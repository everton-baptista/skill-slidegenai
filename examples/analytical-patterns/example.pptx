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c18f6e7acc4f85" /><Relationship Type="http://schemas.openxmlformats.org/officeDocument/2006/relationships/extended-properties" Target="/docProps/app.xml" Id="Rb9d11317ed51433b" /><Relationship Type="http://schemas.openxmlformats.org/officeDocument/2006/relationships/officeDocument" Target="/ppt/presentation.xml" Id="Re5f6f25933ff4a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9b96dce874e54"/>
  </p:sldMasterIdLst>
  <p:notesMasterIdLst>
    <p:notesMasterId xmlns:r="http://schemas.openxmlformats.org/officeDocument/2006/relationships" r:id="Ra7730434feab4e24"/>
  </p:notesMasterIdLst>
  <p:sldIdLst>
    <p:sldId xmlns:r="http://schemas.openxmlformats.org/officeDocument/2006/relationships" id="256" r:id="R139d540e28c94096"/>
    <p:sldId xmlns:r="http://schemas.openxmlformats.org/officeDocument/2006/relationships" id="257" r:id="R1e77da763cea4e0d"/>
    <p:sldId xmlns:r="http://schemas.openxmlformats.org/officeDocument/2006/relationships" id="258" r:id="Rd0cb9a0a7c784799"/>
    <p:sldId xmlns:r="http://schemas.openxmlformats.org/officeDocument/2006/relationships" id="259" r:id="R80116c957c9b437b"/>
    <p:sldId xmlns:r="http://schemas.openxmlformats.org/officeDocument/2006/relationships" id="260" r:id="R5612e832a5ba479e"/>
    <p:sldId xmlns:r="http://schemas.openxmlformats.org/officeDocument/2006/relationships" id="261" r:id="R64fdff0b1d064295"/>
    <p:sldId xmlns:r="http://schemas.openxmlformats.org/officeDocument/2006/relationships" id="262" r:id="R633f36ae81024c4a"/>
    <p:sldId xmlns:r="http://schemas.openxmlformats.org/officeDocument/2006/relationships" id="263" r:id="R5a69f0c3f95e48b9"/>
    <p:sldId xmlns:r="http://schemas.openxmlformats.org/officeDocument/2006/relationships" id="264" r:id="R52d9825ddb854a4a"/>
    <p:sldId xmlns:r="http://schemas.openxmlformats.org/officeDocument/2006/relationships" id="265" r:id="R83154ea50129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c09959c2454dcc" /><Relationship Type="http://schemas.openxmlformats.org/officeDocument/2006/relationships/slideMaster" Target="/ppt/slideMasters/slideMaster1.xml" Id="R8899b96dce874e54" /><Relationship Type="http://schemas.openxmlformats.org/officeDocument/2006/relationships/notesMaster" Target="/ppt/notesMasters/notesMaster1.xml" Id="Ra7730434feab4e24" /><Relationship Type="http://schemas.openxmlformats.org/officeDocument/2006/relationships/presProps" Target="/ppt/presProps.xml" Id="Rc41606dfed424cde" /><Relationship Type="http://schemas.openxmlformats.org/officeDocument/2006/relationships/tableStyles" Target="/ppt/tableStyles.xml" Id="Raaea970e6eee4817" /><Relationship Type="http://schemas.openxmlformats.org/officeDocument/2006/relationships/slide" Target="/ppt/slides/slide1.xml" Id="R139d540e28c94096" /><Relationship Type="http://schemas.openxmlformats.org/officeDocument/2006/relationships/slide" Target="/ppt/slides/slide2.xml" Id="R1e77da763cea4e0d" /><Relationship Type="http://schemas.openxmlformats.org/officeDocument/2006/relationships/slide" Target="/ppt/slides/slide3.xml" Id="Rd0cb9a0a7c784799" /><Relationship Type="http://schemas.openxmlformats.org/officeDocument/2006/relationships/slide" Target="/ppt/slides/slide4.xml" Id="R80116c957c9b437b" /><Relationship Type="http://schemas.openxmlformats.org/officeDocument/2006/relationships/slide" Target="/ppt/slides/slide5.xml" Id="R5612e832a5ba479e" /><Relationship Type="http://schemas.openxmlformats.org/officeDocument/2006/relationships/slide" Target="/ppt/slides/slide6.xml" Id="R64fdff0b1d064295" /><Relationship Type="http://schemas.openxmlformats.org/officeDocument/2006/relationships/slide" Target="/ppt/slides/slide7.xml" Id="R633f36ae81024c4a" /><Relationship Type="http://schemas.openxmlformats.org/officeDocument/2006/relationships/slide" Target="/ppt/slides/slide8.xml" Id="R5a69f0c3f95e48b9" /><Relationship Type="http://schemas.openxmlformats.org/officeDocument/2006/relationships/slide" Target="/ppt/slides/slide9.xml" Id="R52d9825ddb854a4a" /><Relationship Type="http://schemas.openxmlformats.org/officeDocument/2006/relationships/slide" Target="/ppt/slides/slide10.xml" Id="R83154ea50129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ab866b6b845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8351440fd64293" /><Relationship Type="http://schemas.openxmlformats.org/officeDocument/2006/relationships/notesMaster" Target="/ppt/notesMasters/notesMaster1.xml" Id="Rb521084c896d44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daee36d55415b" /><Relationship Type="http://schemas.openxmlformats.org/officeDocument/2006/relationships/notesMaster" Target="/ppt/notesMasters/notesMaster1.xml" Id="R1c0fbd4484b140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91de8c5bb426c" /><Relationship Type="http://schemas.openxmlformats.org/officeDocument/2006/relationships/notesMaster" Target="/ppt/notesMasters/notesMaster1.xml" Id="R5827bd104e8a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e21261c6014afe" /><Relationship Type="http://schemas.openxmlformats.org/officeDocument/2006/relationships/notesMaster" Target="/ppt/notesMasters/notesMaster1.xml" Id="Rd368d0f0302a45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03dae29559432b" /><Relationship Type="http://schemas.openxmlformats.org/officeDocument/2006/relationships/notesMaster" Target="/ppt/notesMasters/notesMaster1.xml" Id="R8a7383e0387c48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9e1aace72347b1" /><Relationship Type="http://schemas.openxmlformats.org/officeDocument/2006/relationships/notesMaster" Target="/ppt/notesMasters/notesMaster1.xml" Id="Rf56e2b3e39734e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6e09b32e8c47a4" /><Relationship Type="http://schemas.openxmlformats.org/officeDocument/2006/relationships/notesMaster" Target="/ppt/notesMasters/notesMaster1.xml" Id="Rf03221de32b146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8f1a208d47472f" /><Relationship Type="http://schemas.openxmlformats.org/officeDocument/2006/relationships/notesMaster" Target="/ppt/notesMasters/notesMaster1.xml" Id="R6f3c3ccb49ac41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34f8524df64e75" /><Relationship Type="http://schemas.openxmlformats.org/officeDocument/2006/relationships/notesMaster" Target="/ppt/notesMasters/notesMaster1.xml" Id="R2156c9960b844a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f2dc76a42a41e3" /><Relationship Type="http://schemas.openxmlformats.org/officeDocument/2006/relationships/notesMaster" Target="/ppt/notesMasters/notesMaster1.xml" Id="R19b9789f70da44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construction example. All numerical data, organizations, dates, assessments and relationships are illustrative. Source model: brand-presentations/references/visual-model-example.json. Native chart values and editable diagram structure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a00b8ae854a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ec23701854f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f5712515749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bc04790bd44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4476ef23a4a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f811256de47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321FDA-5F76-4B85-9494-2A45A51315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720AAE-65B3-46E6-AC93-403DEDB03D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0D9DA7-8B6D-4729-8FE8-3B602585A1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2F21D7-CCD5-409A-A191-EC45BBD88D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3B665C-D3CA-4295-8008-E5610EF97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3A96B3-A8F4-4DEF-B9CD-77C7866ACA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5DDF17-0962-4B2D-89D5-5CBBDE177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1EF9AD-EE74-4B00-8E4F-CD7340DF00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62EF8-DEA7-4AAE-82E4-2DB428618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28BA22-7E84-4A77-B7CA-8D755D143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42e272baa04eb1" /><Relationship Type="http://schemas.openxmlformats.org/officeDocument/2006/relationships/slideLayout" Target="/ppt/slideLayouts/slideLayout1.xml" Id="R495c630fb9874783" /><Relationship Type="http://schemas.openxmlformats.org/officeDocument/2006/relationships/slideLayout" Target="/ppt/slideLayouts/slideLayout2.xml" Id="Rfede220416c9453a" /><Relationship Type="http://schemas.openxmlformats.org/officeDocument/2006/relationships/slideLayout" Target="/ppt/slideLayouts/slideLayout3.xml" Id="Rc8e19000c2eb4bbb" /><Relationship Type="http://schemas.openxmlformats.org/officeDocument/2006/relationships/slideLayout" Target="/ppt/slideLayouts/slideLayout4.xml" Id="R9703471996d04e1f" /><Relationship Type="http://schemas.openxmlformats.org/officeDocument/2006/relationships/slideLayout" Target="/ppt/slideLayouts/slideLayout5.xml" Id="R8b3eae1d18254380" /><Relationship Type="http://schemas.openxmlformats.org/officeDocument/2006/relationships/slideLayout" Target="/ppt/slideLayouts/slideLayout6.xml" Id="R623620d5fa4c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c630fb9874783"/>
    <p:sldLayoutId xmlns:r="http://schemas.openxmlformats.org/officeDocument/2006/relationships" id="2147483650" r:id="Rfede220416c9453a"/>
    <p:sldLayoutId xmlns:r="http://schemas.openxmlformats.org/officeDocument/2006/relationships" id="2147483651" r:id="Rc8e19000c2eb4bbb"/>
    <p:sldLayoutId xmlns:r="http://schemas.openxmlformats.org/officeDocument/2006/relationships" id="2147483652" r:id="R9703471996d04e1f"/>
    <p:sldLayoutId xmlns:r="http://schemas.openxmlformats.org/officeDocument/2006/relationships" id="2147483653" r:id="R8b3eae1d18254380"/>
    <p:sldLayoutId xmlns:r="http://schemas.openxmlformats.org/officeDocument/2006/relationships" id="2147483654" r:id="R623620d5fa4c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78e43b81b4aca" /><Relationship Type="http://schemas.openxmlformats.org/officeDocument/2006/relationships/chart" Target="/ppt/slides/charts/chart1.xml" Id="Rda2136746f054da5" /><Relationship Type="http://schemas.openxmlformats.org/officeDocument/2006/relationships/notesSlide" Target="/ppt/notesSlides/notesSlide1.xml" Id="Rb443682604d0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028602df34229" /><Relationship Type="http://schemas.openxmlformats.org/officeDocument/2006/relationships/chart" Target="/ppt/slides/charts/chart2.xml" Id="Rc86005a52b5f41e8" /><Relationship Type="http://schemas.openxmlformats.org/officeDocument/2006/relationships/notesSlide" Target="/ppt/notesSlides/notesSlide2.xml" Id="R6986cced5f9a49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40a3c05c04b88" /><Relationship Type="http://schemas.openxmlformats.org/officeDocument/2006/relationships/chart" Target="/ppt/slides/charts/chart3.xml" Id="R004520040d654065" /><Relationship Type="http://schemas.openxmlformats.org/officeDocument/2006/relationships/notesSlide" Target="/ppt/notesSlides/notesSlide3.xml" Id="R32f5c4534a5046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3cf0cae9944df" /><Relationship Type="http://schemas.openxmlformats.org/officeDocument/2006/relationships/chart" Target="/ppt/slides/charts/chart4.xml" Id="Rcc6e7663a7ff4b86" /><Relationship Type="http://schemas.openxmlformats.org/officeDocument/2006/relationships/notesSlide" Target="/ppt/notesSlides/notesSlide4.xml" Id="R0d0396ab103441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df99ebde84830" /><Relationship Type="http://schemas.openxmlformats.org/officeDocument/2006/relationships/notesSlide" Target="/ppt/notesSlides/notesSlide5.xml" Id="Rd4cd46c504924c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7864378cd4ed8" /><Relationship Type="http://schemas.openxmlformats.org/officeDocument/2006/relationships/notesSlide" Target="/ppt/notesSlides/notesSlide6.xml" Id="R3b7bb7748e5141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a5afe188f4bb8" /><Relationship Type="http://schemas.openxmlformats.org/officeDocument/2006/relationships/notesSlide" Target="/ppt/notesSlides/notesSlide7.xml" Id="R2d763c46054e41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d252058fd4198" /><Relationship Type="http://schemas.openxmlformats.org/officeDocument/2006/relationships/notesSlide" Target="/ppt/notesSlides/notesSlide8.xml" Id="R43afee90623345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6cecad0844a71" /><Relationship Type="http://schemas.openxmlformats.org/officeDocument/2006/relationships/notesSlide" Target="/ppt/notesSlides/notesSlide9.xml" Id="Rb22911d23d2448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eff038a4584875" /><Relationship Type="http://schemas.openxmlformats.org/officeDocument/2006/relationships/notesSlide" Target="/ppt/notesSlides/notesSlide10.xml" Id="R16f3ea580908409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Prior period</c:v>
          </c:tx>
          <c:spPr>
            <a:solidFill xmlns:a="http://schemas.openxmlformats.org/drawingml/2006/main">
              <a:srgbClr val="243A63"/>
            </a:solidFill>
            <a:ln xmlns:a="http://schemas.openxmlformats.org/drawingml/2006/main" w="28575">
              <a:solidFill>
                <a:srgbClr val="243A63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30</c:v>
                </c:pt>
                <c:pt idx="3">
                  <c:v>24</c:v>
                </c:pt>
              </c:numCache>
            </c:numRef>
          </c:val>
        </c:ser>
        <c:ser>
          <c:idx val="1"/>
          <c:order val="1"/>
          <c:tx>
            <c:v>Current period</c:v>
          </c:tx>
          <c:spPr>
            <a:solidFill xmlns:a="http://schemas.openxmlformats.org/drawingml/2006/main">
              <a:srgbClr val="D15D44"/>
            </a:solidFill>
            <a:ln xmlns:a="http://schemas.openxmlformats.org/drawingml/2006/main" w="28575">
              <a:solidFill>
                <a:srgbClr val="D15D44"/>
              </a:solidFill>
            </a:ln>
          </c:spPr>
          <c:invertIfNegative val="0"/>
          <c:cat>
            <c:strRef>
              <c:f>'Chart Data'!$C$2:$C$5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56</c:v>
                </c:pt>
                <c:pt idx="1">
                  <c:v>44</c:v>
                </c:pt>
                <c:pt idx="2">
                  <c:v>38</c:v>
                </c:pt>
                <c:pt idx="3">
                  <c:v>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2B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Standard</c:v>
          </c:tx>
          <c:spPr>
            <a:solidFill xmlns:a="http://schemas.openxmlformats.org/drawingml/2006/main">
              <a:srgbClr val="AEC9E8"/>
            </a:solidFill>
            <a:ln xmlns:a="http://schemas.openxmlformats.org/drawingml/2006/main" w="28575">
              <a:solidFill>
                <a:srgbClr val="AEC9E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EC9E8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14</c:v>
                </c:pt>
                <c:pt idx="5">
                  <c:v>13</c:v>
                </c:pt>
              </c:numCache>
            </c:numRef>
          </c:val>
          <c:smooth val="0"/>
        </c:ser>
        <c:ser>
          <c:idx val="1"/>
          <c:order val="1"/>
          <c:tx>
            <c:v>Pilot</c:v>
          </c:tx>
          <c:spPr>
            <a:solidFill xmlns:a="http://schemas.openxmlformats.org/drawingml/2006/main">
              <a:srgbClr val="F29578"/>
            </a:solidFill>
            <a:ln xmlns:a="http://schemas.openxmlformats.org/drawingml/2006/main" w="28575">
              <a:solidFill>
                <a:srgbClr val="F2957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F29578"/>
              </a:solidFill>
            </c:spPr>
          </c:marker>
          <c:cat>
            <c:strRef>
              <c:f>'Chart Data'!$C$2:$C$7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781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6517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Days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172B4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FFFFF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172B4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Direct</c:v>
          </c:tx>
          <c:spPr>
            <a:solidFill xmlns:a="http://schemas.openxmlformats.org/drawingml/2006/main">
              <a:srgbClr val="243A63"/>
            </a:solidFill>
            <a:ln xmlns:a="http://schemas.openxmlformats.org/drawingml/2006/main" w="28575">
              <a:solidFill>
                <a:srgbClr val="243A63"/>
              </a:solidFill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0.45</c:v>
                </c:pt>
                <c:pt idx="1">
                  <c:v>0.5</c:v>
                </c:pt>
                <c:pt idx="2">
                  <c:v>0.55</c:v>
                </c:pt>
              </c:numCache>
            </c:numRef>
          </c:val>
        </c:ser>
        <c:ser>
          <c:idx val="1"/>
          <c:order val="1"/>
          <c:tx>
            <c:v>Partner</c:v>
          </c:tx>
          <c:spPr>
            <a:solidFill xmlns:a="http://schemas.openxmlformats.org/drawingml/2006/main">
              <a:srgbClr val="D15D44"/>
            </a:solidFill>
            <a:ln xmlns:a="http://schemas.openxmlformats.org/drawingml/2006/main" w="28575">
              <a:solidFill>
                <a:srgbClr val="D15D44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0.35</c:v>
                </c:pt>
                <c:pt idx="1">
                  <c:v>0.3</c:v>
                </c:pt>
                <c:pt idx="2">
                  <c:v>0.25</c:v>
                </c:pt>
              </c:numCache>
            </c:numRef>
          </c:val>
        </c:ser>
        <c:ser>
          <c:idx val="2"/>
          <c:order val="2"/>
          <c:tx>
            <c:v>Other</c:v>
          </c:tx>
          <c:spPr>
            <a:solidFill xmlns:a="http://schemas.openxmlformats.org/drawingml/2006/main">
              <a:srgbClr val="1E6A61"/>
            </a:solidFill>
            <a:ln xmlns:a="http://schemas.openxmlformats.org/drawingml/2006/main" w="28575">
              <a:solidFill>
                <a:srgbClr val="1E6A61"/>
              </a:solidFill>
            </a:ln>
          </c:spPr>
          <c:invertIfNegative val="0"/>
          <c:cat>
            <c:strRef>
              <c:f>'Chart Data'!$E$2:$E$4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2B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Teams</c:v>
          </c:tx>
          <c:spPr>
            <a:solidFill xmlns:a="http://schemas.openxmlformats.org/drawingml/2006/main">
              <a:srgbClr val="243A63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243A63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</c:v>
                </c:pt>
                <c:pt idx="1">
                  <c:v>26</c:v>
                </c:pt>
                <c:pt idx="2">
                  <c:v>20</c:v>
                </c:pt>
                <c:pt idx="3">
                  <c:v>35</c:v>
                </c:pt>
                <c:pt idx="4">
                  <c:v>31</c:v>
                </c:pt>
                <c:pt idx="5">
                  <c:v>42</c:v>
                </c:pt>
                <c:pt idx="6">
                  <c:v>40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2B4D"/>
                    </a:solidFill>
                    <a:latin typeface="Arial"/>
                    <a:ea typeface="Arial"/>
                    <a:cs typeface="Arial"/>
                  </a:rPr>
                  <a:t>Completed items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1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2B4D"/>
                    </a:solidFill>
                    <a:latin typeface="Arial"/>
                    <a:ea typeface="Arial"/>
                    <a:cs typeface="Arial"/>
                  </a:rPr>
                  <a:t>Training hours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F5BA3567-BF11-457F-AD68-739B9C38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E40391-8FE9-4E94-B122-A46A355B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Completed items by region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6D18655-53DD-4099-A470-32BFEA89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Comparable categories, two periods and a zero baseline.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E5825169-8F2B-4CE0-8BE6-F7DB64AF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A292E81-FB98-41CF-A995-BD73B042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4A98C9D-374B-4DEF-BA96-00905FA929F3}"/>
              </a:ext>
            </a:extLst>
          </p:cNvPr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2136746f054da5"/>
          </a:graphicData>
        </a:graphic>
      </p:graphicFrame>
    </p:spTree>
    <p:extLst>
      <p:ext uri="{BB962C8B-B14F-4D97-AF65-F5344CB8AC3E}">
        <p14:creationId xmlns:p14="http://schemas.microsoft.com/office/powerpoint/2010/main" val="339951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B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018672BC-32BE-4723-BFAB-1A50683B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CFE1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413A0A-0386-4650-8FBA-15DCEC1E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Delivery time over six months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211D2ED-3BE0-4F71-96D8-CC746B2E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2EF"/>
                </a:solidFill>
                <a:latin typeface="Arial"/>
                <a:ea typeface="Arial"/>
                <a:cs typeface="Arial"/>
              </a:rPr>
              <a:t>Two series, a shared time scale and explicit units.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DE930CE9-B8B8-4245-ABF6-0B30FE0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2D0E1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B90783B-2AAC-4B4D-AE4C-AB1CCE6A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2D0E1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6540241-4BEE-47FF-A13F-BE90E520437D}"/>
              </a:ext>
            </a:extLst>
          </p:cNvPr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6005a52b5f41e8"/>
          </a:graphicData>
        </a:graphic>
      </p:graphicFrame>
    </p:spTree>
    <p:extLst>
      <p:ext uri="{BB962C8B-B14F-4D97-AF65-F5344CB8AC3E}">
        <p14:creationId xmlns:p14="http://schemas.microsoft.com/office/powerpoint/2010/main" val="2126589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1AF3CF3F-6CEA-4C6E-A4B5-56329170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059EA1-1B74-4CB0-AADF-84D99506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Channel mix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347A76E-156F-46C1-ACD7-65AD9014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Each quarter represents the same whole: 100%.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F0BADCA6-2B2E-4D0A-B922-2CE8F9F8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CBB0A31-FDAD-4BFB-AD36-B83E0E16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64B294B-0723-4A8C-8F0B-272924D7342D}"/>
              </a:ext>
            </a:extLst>
          </p:cNvPr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4520040d654065"/>
          </a:graphicData>
        </a:graphic>
      </p:graphicFrame>
    </p:spTree>
    <p:extLst>
      <p:ext uri="{BB962C8B-B14F-4D97-AF65-F5344CB8AC3E}">
        <p14:creationId xmlns:p14="http://schemas.microsoft.com/office/powerpoint/2010/main" val="1534503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8F30B87A-74D9-4290-8645-0501E356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2C5B2F-50B2-4CFB-8A4A-D46BCE4E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Training and output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E616670-7131-4D4F-9165-083CC2D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Paired observations. Association does not establish causation.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9E188FC7-A2B0-4236-8309-336A4F31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DF1052-9453-47FE-B86C-1454C0C2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AABCAE6-4EF9-48F2-BEBA-6037299F6DC6}"/>
              </a:ext>
            </a:extLst>
          </p:cNvPr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6e7663a7ff4b86"/>
          </a:graphicData>
        </a:graphic>
      </p:graphicFrame>
    </p:spTree>
    <p:extLst>
      <p:ext uri="{BB962C8B-B14F-4D97-AF65-F5344CB8AC3E}">
        <p14:creationId xmlns:p14="http://schemas.microsoft.com/office/powerpoint/2010/main" val="378163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E5A9753F-5F0B-4586-B45B-78C108D1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8E51BB-BFF6-43ED-B61A-13BF93F2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Decision and rework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E92682F-4E38-4C21-AED2-479EE7F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 decision needs both destinations and a visible return path.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5A284AD6-D879-4C4E-BF3A-3C8934DA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3554B32-646F-4BC3-9E86-08DFE7C3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6" name="decision-receive">
            <a:extLst xmlns:a="http://schemas.openxmlformats.org/drawingml/2006/main">
              <a:ext uri="{FF2B5EF4-FFF2-40B4-BE49-F238E27FC236}">
                <a16:creationId xmlns:a16="http://schemas.microsoft.com/office/drawing/2014/main" id="{6DE1C879-CF37-4D64-9804-92041A11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047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Receive request</a:t>
            </a:r>
          </a:p>
        </p:txBody>
      </p:sp>
      <p:sp>
        <p:nvSpPr>
          <p:cNvPr id="7" name="decision-review">
            <a:extLst xmlns:a="http://schemas.openxmlformats.org/drawingml/2006/main">
              <a:ext uri="{FF2B5EF4-FFF2-40B4-BE49-F238E27FC236}">
                <a16:creationId xmlns:a16="http://schemas.microsoft.com/office/drawing/2014/main" id="{3E5BBE51-E790-48C8-9C78-4796E9A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1809750" cy="1285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Ready?</a:t>
            </a:r>
          </a:p>
        </p:txBody>
      </p:sp>
      <p:sp>
        <p:nvSpPr>
          <p:cNvPr id="8" name="decision-prepare">
            <a:extLst xmlns:a="http://schemas.openxmlformats.org/drawingml/2006/main">
              <a:ext uri="{FF2B5EF4-FFF2-40B4-BE49-F238E27FC236}">
                <a16:creationId xmlns:a16="http://schemas.microsoft.com/office/drawing/2014/main" id="{BE461352-A18E-4D3B-AF38-FD2C4AE7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Prepare delivery</a:t>
            </a:r>
          </a:p>
        </p:txBody>
      </p:sp>
      <p:sp>
        <p:nvSpPr>
          <p:cNvPr id="9" name="decision-return">
            <a:extLst xmlns:a="http://schemas.openxmlformats.org/drawingml/2006/main">
              <a:ext uri="{FF2B5EF4-FFF2-40B4-BE49-F238E27FC236}">
                <a16:creationId xmlns:a16="http://schemas.microsoft.com/office/drawing/2014/main" id="{D1331319-E9E5-4814-9FEC-AA55E3BB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435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Request details</a:t>
            </a:r>
          </a:p>
        </p:txBody>
      </p:sp>
      <p:sp>
        <p:nvSpPr>
          <p:cNvPr id="10" name="decision-deliver">
            <a:extLst xmlns:a="http://schemas.openxmlformats.org/drawingml/2006/main">
              <a:ext uri="{FF2B5EF4-FFF2-40B4-BE49-F238E27FC236}">
                <a16:creationId xmlns:a16="http://schemas.microsoft.com/office/drawing/2014/main" id="{003C7BE6-888C-4D05-A3D0-A148EAAC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1762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0F5DE-E1B8-47F6-9BF5-174D9C74558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57475" y="3881438"/>
            <a:ext cx="1076325" cy="1143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12" name="edge-label-0">
            <a:extLst xmlns:a="http://schemas.openxmlformats.org/drawingml/2006/main">
              <a:ext uri="{FF2B5EF4-FFF2-40B4-BE49-F238E27FC236}">
                <a16:creationId xmlns:a16="http://schemas.microsoft.com/office/drawing/2014/main" id="{B8437F4E-E1EA-4408-8AAF-495D4CEE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81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2C635-02AE-4F9A-A113-FECE884A5BB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543550" y="3881438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14" name="edge-label-1">
            <a:extLst xmlns:a="http://schemas.openxmlformats.org/drawingml/2006/main">
              <a:ext uri="{FF2B5EF4-FFF2-40B4-BE49-F238E27FC236}">
                <a16:creationId xmlns:a16="http://schemas.microsoft.com/office/drawing/2014/main" id="{16D19133-3C1C-425F-8C55-ACCDFCC5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41496-B0FB-48C6-BD68-941BC7B099C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638675" y="4524375"/>
            <a:ext cx="47625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16" name="edge-label-2">
            <a:extLst xmlns:a="http://schemas.openxmlformats.org/drawingml/2006/main">
              <a:ext uri="{FF2B5EF4-FFF2-40B4-BE49-F238E27FC236}">
                <a16:creationId xmlns:a16="http://schemas.microsoft.com/office/drawing/2014/main" id="{E2A89ECD-C94B-49CB-99A0-DB1D1F07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767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8A00C-57D1-4F49-986C-BB9EB6E3982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63000" y="38814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18" name="edge-label-3">
            <a:extLst xmlns:a="http://schemas.openxmlformats.org/drawingml/2006/main">
              <a:ext uri="{FF2B5EF4-FFF2-40B4-BE49-F238E27FC236}">
                <a16:creationId xmlns:a16="http://schemas.microsoft.com/office/drawing/2014/main" id="{A0114E69-0135-4521-8F76-9AAD2C2C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813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19" name="route-4-0">
            <a:extLst xmlns:a="http://schemas.openxmlformats.org/drawingml/2006/main">
              <a:ext uri="{FF2B5EF4-FFF2-40B4-BE49-F238E27FC236}">
                <a16:creationId xmlns:a16="http://schemas.microsoft.com/office/drawing/2014/main" id="{8814A3F6-782B-4252-998E-EBF951EB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5519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route-4-1">
            <a:extLst xmlns:a="http://schemas.openxmlformats.org/drawingml/2006/main">
              <a:ext uri="{FF2B5EF4-FFF2-40B4-BE49-F238E27FC236}">
                <a16:creationId xmlns:a16="http://schemas.microsoft.com/office/drawing/2014/main" id="{977C1CCC-DA90-4FC9-9B4E-4662D755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3871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3E5ED-FBDF-4B10-9DE8-2B9392B2CF95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052763" y="5524500"/>
            <a:ext cx="585787" cy="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3A63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1E387-2D13-4742-AE72-DE5752E4F87F}"/>
              </a:ext>
            </a:extLst>
          </p:cNvPr>
          <p:cNvCxnSpPr>
            <a:stCxn xmlns:a="http://schemas.openxmlformats.org/drawingml/2006/main" id="1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3048001" y="3881438"/>
            <a:ext cx="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3A63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F8FE2-D308-48F4-9D30-76735CD91257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52763" y="3876676"/>
            <a:ext cx="681037" cy="476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24" name="edge-label-4">
            <a:extLst xmlns:a="http://schemas.openxmlformats.org/drawingml/2006/main">
              <a:ext uri="{FF2B5EF4-FFF2-40B4-BE49-F238E27FC236}">
                <a16:creationId xmlns:a16="http://schemas.microsoft.com/office/drawing/2014/main" id="{8BE694F1-95BB-4772-B83D-5B8BB54A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9700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Resubmit</a:t>
            </a:r>
          </a:p>
        </p:txBody>
      </p:sp>
    </p:spTree>
    <p:extLst>
      <p:ext uri="{BB962C8B-B14F-4D97-AF65-F5344CB8AC3E}">
        <p14:creationId xmlns:p14="http://schemas.microsoft.com/office/powerpoint/2010/main" val="459038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CFA6F858-2FE3-4848-8B65-28FA437F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08DF9-C2E0-4A31-89EC-DB3AD40B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Responsibility and handoffs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CB97625-E010-436A-8AB6-4DEAAB7F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Lane membership expresses ownership. Arrows express handoffs.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5E99D9AE-D9EC-4670-AD85-3711D527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79235F2-4531-462E-8C82-8D97642D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6" name="lane-0">
            <a:extLst xmlns:a="http://schemas.openxmlformats.org/drawingml/2006/main">
              <a:ext uri="{FF2B5EF4-FFF2-40B4-BE49-F238E27FC236}">
                <a16:creationId xmlns:a16="http://schemas.microsoft.com/office/drawing/2014/main" id="{AC855BE6-7E50-48F0-93FB-47B13E52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7" name="lane-title-0">
            <a:extLst xmlns:a="http://schemas.openxmlformats.org/drawingml/2006/main">
              <a:ext uri="{FF2B5EF4-FFF2-40B4-BE49-F238E27FC236}">
                <a16:creationId xmlns:a16="http://schemas.microsoft.com/office/drawing/2014/main" id="{71D49A01-DC36-4F93-9ECE-F7E0BE94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lane-1">
            <a:extLst xmlns:a="http://schemas.openxmlformats.org/drawingml/2006/main">
              <a:ext uri="{FF2B5EF4-FFF2-40B4-BE49-F238E27FC236}">
                <a16:creationId xmlns:a16="http://schemas.microsoft.com/office/drawing/2014/main" id="{682DED77-22E1-4B8D-85A7-90A885D6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7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</p:sp>
      <p:sp>
        <p:nvSpPr>
          <p:cNvPr id="9" name="lane-title-1">
            <a:extLst xmlns:a="http://schemas.openxmlformats.org/drawingml/2006/main">
              <a:ext uri="{FF2B5EF4-FFF2-40B4-BE49-F238E27FC236}">
                <a16:creationId xmlns:a16="http://schemas.microsoft.com/office/drawing/2014/main" id="{8FA20E92-E407-4DAF-A872-979BF724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0" name="lane-2">
            <a:extLst xmlns:a="http://schemas.openxmlformats.org/drawingml/2006/main">
              <a:ext uri="{FF2B5EF4-FFF2-40B4-BE49-F238E27FC236}">
                <a16:creationId xmlns:a16="http://schemas.microsoft.com/office/drawing/2014/main" id="{141D0A60-2C5A-47EE-A727-3800917A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1" name="lane-title-2">
            <a:extLst xmlns:a="http://schemas.openxmlformats.org/drawingml/2006/main">
              <a:ext uri="{FF2B5EF4-FFF2-40B4-BE49-F238E27FC236}">
                <a16:creationId xmlns:a16="http://schemas.microsoft.com/office/drawing/2014/main" id="{35E6F3E2-B1AD-4721-8374-6A29F878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2" name="handoff-brief">
            <a:extLst xmlns:a="http://schemas.openxmlformats.org/drawingml/2006/main">
              <a:ext uri="{FF2B5EF4-FFF2-40B4-BE49-F238E27FC236}">
                <a16:creationId xmlns:a16="http://schemas.microsoft.com/office/drawing/2014/main" id="{6A391D6C-4085-4731-A040-23A2468A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67050"/>
            <a:ext cx="16668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Send brief</a:t>
            </a:r>
          </a:p>
        </p:txBody>
      </p:sp>
      <p:sp>
        <p:nvSpPr>
          <p:cNvPr id="13" name="handoff-plan">
            <a:extLst xmlns:a="http://schemas.openxmlformats.org/drawingml/2006/main">
              <a:ext uri="{FF2B5EF4-FFF2-40B4-BE49-F238E27FC236}">
                <a16:creationId xmlns:a16="http://schemas.microsoft.com/office/drawing/2014/main" id="{2C2C92F7-B67C-4B54-98C5-B68754C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16668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Plan work</a:t>
            </a:r>
          </a:p>
        </p:txBody>
      </p:sp>
      <p:sp>
        <p:nvSpPr>
          <p:cNvPr id="14" name="handoff-build">
            <a:extLst xmlns:a="http://schemas.openxmlformats.org/drawingml/2006/main">
              <a:ext uri="{FF2B5EF4-FFF2-40B4-BE49-F238E27FC236}">
                <a16:creationId xmlns:a16="http://schemas.microsoft.com/office/drawing/2014/main" id="{159C2ECB-2164-4CD5-BA1E-FF4D015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86225"/>
            <a:ext cx="16668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5" name="handoff-check">
            <a:extLst xmlns:a="http://schemas.openxmlformats.org/drawingml/2006/main">
              <a:ext uri="{FF2B5EF4-FFF2-40B4-BE49-F238E27FC236}">
                <a16:creationId xmlns:a16="http://schemas.microsoft.com/office/drawing/2014/main" id="{DF1B5C0C-9B2B-47EC-8FF1-7303FB3B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05400"/>
            <a:ext cx="1809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output</a:t>
            </a:r>
          </a:p>
        </p:txBody>
      </p:sp>
      <p:sp>
        <p:nvSpPr>
          <p:cNvPr id="16" name="handoff-accept">
            <a:extLst xmlns:a="http://schemas.openxmlformats.org/drawingml/2006/main">
              <a:ext uri="{FF2B5EF4-FFF2-40B4-BE49-F238E27FC236}">
                <a16:creationId xmlns:a16="http://schemas.microsoft.com/office/drawing/2014/main" id="{178429CC-8990-47B8-BE75-E928CCD3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67050"/>
            <a:ext cx="1809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4288">
            <a:solidFill>
              <a:srgbClr val="9FB1C9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Accept delivery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BBF32-1A02-47EC-89C4-441BE3C257E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381500" y="3367088"/>
            <a:ext cx="47625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18" name="edge-label-0">
            <a:extLst xmlns:a="http://schemas.openxmlformats.org/drawingml/2006/main">
              <a:ext uri="{FF2B5EF4-FFF2-40B4-BE49-F238E27FC236}">
                <a16:creationId xmlns:a16="http://schemas.microsoft.com/office/drawing/2014/main" id="{84201570-F7F6-40DA-B20C-406BA9B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2427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9EA60-3A0E-459B-B8F8-1BFA0DE0522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24625" y="43862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20" name="edge-label-1">
            <a:extLst xmlns:a="http://schemas.openxmlformats.org/drawingml/2006/main">
              <a:ext uri="{FF2B5EF4-FFF2-40B4-BE49-F238E27FC236}">
                <a16:creationId xmlns:a16="http://schemas.microsoft.com/office/drawing/2014/main" id="{FFFBE69B-F09F-457B-94BB-73620942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Assign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A779A-A721-4D1D-A212-A4A55DD292C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763000" y="4386263"/>
            <a:ext cx="1428750" cy="71913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22" name="edge-label-2">
            <a:extLst xmlns:a="http://schemas.openxmlformats.org/drawingml/2006/main">
              <a:ext uri="{FF2B5EF4-FFF2-40B4-BE49-F238E27FC236}">
                <a16:creationId xmlns:a16="http://schemas.microsoft.com/office/drawing/2014/main" id="{5DF31E08-D8CB-4D82-B92B-A2CDFE1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38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0C303-9180-4722-9DA1-F80E9FD45407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V="1">
            <a:off x="11096625" y="3367088"/>
            <a:ext cx="0" cy="2038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3A63"/>
            </a:solidFill>
            <a:tailEnd type="triangle" w="med" len="med"/>
          </a:ln>
        </p:spPr>
      </p:cxnSp>
      <p:sp>
        <p:nvSpPr>
          <p:cNvPr id="24" name="edge-label-3">
            <a:extLst xmlns:a="http://schemas.openxmlformats.org/drawingml/2006/main">
              <a:ext uri="{FF2B5EF4-FFF2-40B4-BE49-F238E27FC236}">
                <a16:creationId xmlns:a16="http://schemas.microsoft.com/office/drawing/2014/main" id="{62B8BDFA-361E-4F8E-8A32-119CC2AC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</p:spTree>
    <p:extLst>
      <p:ext uri="{BB962C8B-B14F-4D97-AF65-F5344CB8AC3E}">
        <p14:creationId xmlns:p14="http://schemas.microsoft.com/office/powerpoint/2010/main" val="1413164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B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9872DFDC-F32B-49F7-961A-015974FF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FCF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CFE1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F11993-8023-49DD-BE75-224D84E1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relationships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EF9EA9E-EC43-4DF8-8EF7-07E53E67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7E2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2EF"/>
                </a:solidFill>
                <a:latin typeface="Arial"/>
                <a:ea typeface="Arial"/>
                <a:cs typeface="Arial"/>
              </a:rPr>
              <a:t>An asynchronous path and a distinct read connection.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FE9DC5F2-AF4D-4385-A2B3-DCE21BE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2D0E1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79AAED-0404-475B-8A94-9E668B0F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2D0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2D0E1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6" name="system-portal">
            <a:extLst xmlns:a="http://schemas.openxmlformats.org/drawingml/2006/main">
              <a:ext uri="{FF2B5EF4-FFF2-40B4-BE49-F238E27FC236}">
                <a16:creationId xmlns:a16="http://schemas.microsoft.com/office/drawing/2014/main" id="{90D40883-545B-4DB1-97BB-ADB7AB85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905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63"/>
          </a:solidFill>
          <a:ln xmlns:a="http://schemas.openxmlformats.org/drawingml/2006/main" w="14288">
            <a:solidFill>
              <a:srgbClr val="6781A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Portal</a:t>
            </a:r>
          </a:p>
        </p:txBody>
      </p:sp>
      <p:sp>
        <p:nvSpPr>
          <p:cNvPr id="7" name="system-api">
            <a:extLst xmlns:a="http://schemas.openxmlformats.org/drawingml/2006/main">
              <a:ext uri="{FF2B5EF4-FFF2-40B4-BE49-F238E27FC236}">
                <a16:creationId xmlns:a16="http://schemas.microsoft.com/office/drawing/2014/main" id="{9578393B-19CA-43C8-A6C4-94D0BB4B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76625"/>
            <a:ext cx="2190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63"/>
          </a:solidFill>
          <a:ln xmlns:a="http://schemas.openxmlformats.org/drawingml/2006/main" w="14288">
            <a:solidFill>
              <a:srgbClr val="6781A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API</a:t>
            </a:r>
          </a:p>
        </p:txBody>
      </p:sp>
      <p:sp>
        <p:nvSpPr>
          <p:cNvPr id="8" name="system-queue">
            <a:extLst xmlns:a="http://schemas.openxmlformats.org/drawingml/2006/main">
              <a:ext uri="{FF2B5EF4-FFF2-40B4-BE49-F238E27FC236}">
                <a16:creationId xmlns:a16="http://schemas.microsoft.com/office/drawing/2014/main" id="{35A562A2-68B1-4B04-B19E-5C228607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1809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63"/>
          </a:solidFill>
          <a:ln xmlns:a="http://schemas.openxmlformats.org/drawingml/2006/main" w="14288">
            <a:solidFill>
              <a:srgbClr val="6781A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 queue</a:t>
            </a:r>
          </a:p>
        </p:txBody>
      </p:sp>
      <p:sp>
        <p:nvSpPr>
          <p:cNvPr id="9" name="system-worker">
            <a:extLst xmlns:a="http://schemas.openxmlformats.org/drawingml/2006/main">
              <a:ext uri="{FF2B5EF4-FFF2-40B4-BE49-F238E27FC236}">
                <a16:creationId xmlns:a16="http://schemas.microsoft.com/office/drawing/2014/main" id="{AD50EB64-DBD3-44C7-8B98-A380FA29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857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63"/>
          </a:solidFill>
          <a:ln xmlns:a="http://schemas.openxmlformats.org/drawingml/2006/main" w="14288">
            <a:solidFill>
              <a:srgbClr val="6781A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10" name="system-store">
            <a:extLst xmlns:a="http://schemas.openxmlformats.org/drawingml/2006/main">
              <a:ext uri="{FF2B5EF4-FFF2-40B4-BE49-F238E27FC236}">
                <a16:creationId xmlns:a16="http://schemas.microsoft.com/office/drawing/2014/main" id="{B981E832-B2AD-4585-80F5-9B6128F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0"/>
            <a:ext cx="1857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63"/>
          </a:solidFill>
          <a:ln xmlns:a="http://schemas.openxmlformats.org/drawingml/2006/main" w="14288">
            <a:solidFill>
              <a:srgbClr val="6781A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store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DD882-2BBE-4F27-8F40-23783798D9B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14600" y="3881438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ED8"/>
            </a:solidFill>
            <a:tailEnd type="triangle" w="med" len="med"/>
          </a:ln>
        </p:spPr>
      </p:cxnSp>
      <p:sp>
        <p:nvSpPr>
          <p:cNvPr id="12" name="edge-label-0">
            <a:extLst xmlns:a="http://schemas.openxmlformats.org/drawingml/2006/main">
              <a:ext uri="{FF2B5EF4-FFF2-40B4-BE49-F238E27FC236}">
                <a16:creationId xmlns:a16="http://schemas.microsoft.com/office/drawing/2014/main" id="{9C7D4620-9D57-407A-9F7B-3FB8F42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432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AE5F0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8B90-6A1E-47AF-A1BA-A36B12DE371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905500" y="3262313"/>
            <a:ext cx="114300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9BED8"/>
            </a:solidFill>
            <a:tailEnd type="triangle" w="med" len="med"/>
          </a:ln>
        </p:spPr>
      </p:cxnSp>
      <p:sp>
        <p:nvSpPr>
          <p:cNvPr id="14" name="edge-label-1">
            <a:extLst xmlns:a="http://schemas.openxmlformats.org/drawingml/2006/main">
              <a:ext uri="{FF2B5EF4-FFF2-40B4-BE49-F238E27FC236}">
                <a16:creationId xmlns:a16="http://schemas.microsoft.com/office/drawing/2014/main" id="{2ED692B9-9DF0-484D-83F7-7BC04F76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670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AE5F0"/>
                </a:solidFill>
                <a:latin typeface="Arial"/>
                <a:ea typeface="Arial"/>
                <a:cs typeface="Arial"/>
              </a:rPr>
              <a:t>Enqueue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55640-C2E4-484D-BE80-F46C987E7A9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58250" y="32623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ED8"/>
            </a:solidFill>
            <a:tailEnd type="triangle" w="med" len="med"/>
          </a:ln>
        </p:spPr>
      </p:cxnSp>
      <p:sp>
        <p:nvSpPr>
          <p:cNvPr id="16" name="edge-label-2">
            <a:extLst xmlns:a="http://schemas.openxmlformats.org/drawingml/2006/main">
              <a:ext uri="{FF2B5EF4-FFF2-40B4-BE49-F238E27FC236}">
                <a16:creationId xmlns:a16="http://schemas.microsoft.com/office/drawing/2014/main" id="{0FB38711-78F7-4D15-A9A1-0E4675D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6702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AE5F0"/>
                </a:solidFill>
                <a:latin typeface="Arial"/>
                <a:ea typeface="Arial"/>
                <a:cs typeface="Arial"/>
              </a:rPr>
              <a:t>Consume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A1651-1C83-4D14-9632-FC52A555F2E3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644188" y="3667125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ED8"/>
            </a:solidFill>
            <a:tailEnd type="triangle" w="med" len="med"/>
          </a:ln>
        </p:spPr>
      </p:cxnSp>
      <p:sp>
        <p:nvSpPr>
          <p:cNvPr id="18" name="edge-label-3">
            <a:extLst xmlns:a="http://schemas.openxmlformats.org/drawingml/2006/main">
              <a:ext uri="{FF2B5EF4-FFF2-40B4-BE49-F238E27FC236}">
                <a16:creationId xmlns:a16="http://schemas.microsoft.com/office/drawing/2014/main" id="{DFC57F0B-A9E3-4099-B37E-9CC07260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100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AE5F0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A2958-9725-45FD-94C6-6C6CF4EC72F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05500" y="3881438"/>
            <a:ext cx="381000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9BED8"/>
            </a:solidFill>
            <a:tailEnd type="triangle" w="med" len="med"/>
          </a:ln>
        </p:spPr>
      </p:cxnSp>
      <p:sp>
        <p:nvSpPr>
          <p:cNvPr id="20" name="edge-label-4">
            <a:extLst xmlns:a="http://schemas.openxmlformats.org/drawingml/2006/main">
              <a:ext uri="{FF2B5EF4-FFF2-40B4-BE49-F238E27FC236}">
                <a16:creationId xmlns:a16="http://schemas.microsoft.com/office/drawing/2014/main" id="{DD8921DE-928D-4AF3-9C3E-B6061073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290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E5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AE5F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</p:spTree>
    <p:extLst>
      <p:ext uri="{BB962C8B-B14F-4D97-AF65-F5344CB8AC3E}">
        <p14:creationId xmlns:p14="http://schemas.microsoft.com/office/powerpoint/2010/main" val="1018706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">
            <a:extLst xmlns:a="http://schemas.openxmlformats.org/drawingml/2006/main">
              <a:ext uri="{FF2B5EF4-FFF2-40B4-BE49-F238E27FC236}">
                <a16:creationId xmlns:a16="http://schemas.microsoft.com/office/drawing/2014/main" id="{2F8D437E-C190-4449-B900-8F05876E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942BF4-B8BA-4558-A54C-5B629442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Roadmap with real durations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0C787AB-3FFA-4179-ABA8-4A102459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Jan–Jun 2027. Bar widths follow elapsed days, not equal visual slots.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0E4B06CD-4FC8-46A7-B61A-90B2FEC3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A186A8-1E88-491F-AEAC-BDA44D56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6" name="month-line-0">
            <a:extLst xmlns:a="http://schemas.openxmlformats.org/drawingml/2006/main">
              <a:ext uri="{FF2B5EF4-FFF2-40B4-BE49-F238E27FC236}">
                <a16:creationId xmlns:a16="http://schemas.microsoft.com/office/drawing/2014/main" id="{786A9F1B-F71C-4C2B-833A-443A6DA3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B"/>
          </a:solidFill>
          <a:ln xmlns:a="http://schemas.openxmlformats.org/drawingml/2006/main" w="0">
            <a:noFill/>
          </a:ln>
        </p:spPr>
      </p:sp>
      <p:sp>
        <p:nvSpPr>
          <p:cNvPr id="7" name="month-0">
            <a:extLst xmlns:a="http://schemas.openxmlformats.org/drawingml/2006/main">
              <a:ext uri="{FF2B5EF4-FFF2-40B4-BE49-F238E27FC236}">
                <a16:creationId xmlns:a16="http://schemas.microsoft.com/office/drawing/2014/main" id="{988F7921-B7D1-4C3B-8B33-9F11D658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8" name="month-line-1">
            <a:extLst xmlns:a="http://schemas.openxmlformats.org/drawingml/2006/main">
              <a:ext uri="{FF2B5EF4-FFF2-40B4-BE49-F238E27FC236}">
                <a16:creationId xmlns:a16="http://schemas.microsoft.com/office/drawing/2014/main" id="{E8C824C1-C92E-46E2-B162-6D8A1DB0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095" y="3000375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B"/>
          </a:solidFill>
          <a:ln xmlns:a="http://schemas.openxmlformats.org/drawingml/2006/main" w="0">
            <a:noFill/>
          </a:ln>
        </p:spPr>
      </p:sp>
      <p:sp>
        <p:nvSpPr>
          <p:cNvPr id="9" name="month-1">
            <a:extLst xmlns:a="http://schemas.openxmlformats.org/drawingml/2006/main">
              <a:ext uri="{FF2B5EF4-FFF2-40B4-BE49-F238E27FC236}">
                <a16:creationId xmlns:a16="http://schemas.microsoft.com/office/drawing/2014/main" id="{B6DA7C49-D5EF-412F-81EB-28F34C72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345" y="2571750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10" name="month-line-2">
            <a:extLst xmlns:a="http://schemas.openxmlformats.org/drawingml/2006/main">
              <a:ext uri="{FF2B5EF4-FFF2-40B4-BE49-F238E27FC236}">
                <a16:creationId xmlns:a16="http://schemas.microsoft.com/office/drawing/2014/main" id="{23A7B3AE-610D-4BB2-A63F-263682C3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698" y="3000375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B"/>
          </a:solidFill>
          <a:ln xmlns:a="http://schemas.openxmlformats.org/drawingml/2006/main" w="0">
            <a:noFill/>
          </a:ln>
        </p:spPr>
      </p:sp>
      <p:sp>
        <p:nvSpPr>
          <p:cNvPr id="11" name="month-2">
            <a:extLst xmlns:a="http://schemas.openxmlformats.org/drawingml/2006/main">
              <a:ext uri="{FF2B5EF4-FFF2-40B4-BE49-F238E27FC236}">
                <a16:creationId xmlns:a16="http://schemas.microsoft.com/office/drawing/2014/main" id="{0A9385CB-25DF-4FC6-B209-98ABF805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948" y="2571750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12" name="month-line-3">
            <a:extLst xmlns:a="http://schemas.openxmlformats.org/drawingml/2006/main">
              <a:ext uri="{FF2B5EF4-FFF2-40B4-BE49-F238E27FC236}">
                <a16:creationId xmlns:a16="http://schemas.microsoft.com/office/drawing/2014/main" id="{8BEDDF61-86B3-4922-9D10-09EA7114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543" y="3000375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B"/>
          </a:solidFill>
          <a:ln xmlns:a="http://schemas.openxmlformats.org/drawingml/2006/main" w="0">
            <a:noFill/>
          </a:ln>
        </p:spPr>
      </p:sp>
      <p:sp>
        <p:nvSpPr>
          <p:cNvPr id="13" name="month-3">
            <a:extLst xmlns:a="http://schemas.openxmlformats.org/drawingml/2006/main">
              <a:ext uri="{FF2B5EF4-FFF2-40B4-BE49-F238E27FC236}">
                <a16:creationId xmlns:a16="http://schemas.microsoft.com/office/drawing/2014/main" id="{BA618F5E-0125-4F1F-AE05-61F923D6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793" y="2571750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Apr</a:t>
            </a:r>
          </a:p>
        </p:txBody>
      </p:sp>
      <p:sp>
        <p:nvSpPr>
          <p:cNvPr id="14" name="month-line-4">
            <a:extLst xmlns:a="http://schemas.openxmlformats.org/drawingml/2006/main">
              <a:ext uri="{FF2B5EF4-FFF2-40B4-BE49-F238E27FC236}">
                <a16:creationId xmlns:a16="http://schemas.microsoft.com/office/drawing/2014/main" id="{7571D773-6FC1-4154-8157-A8C00277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974" y="3000375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B"/>
          </a:solidFill>
          <a:ln xmlns:a="http://schemas.openxmlformats.org/drawingml/2006/main" w="0">
            <a:noFill/>
          </a:ln>
        </p:spPr>
      </p:sp>
      <p:sp>
        <p:nvSpPr>
          <p:cNvPr id="15" name="month-4">
            <a:extLst xmlns:a="http://schemas.openxmlformats.org/drawingml/2006/main">
              <a:ext uri="{FF2B5EF4-FFF2-40B4-BE49-F238E27FC236}">
                <a16:creationId xmlns:a16="http://schemas.microsoft.com/office/drawing/2014/main" id="{8C851158-BBE9-4376-9E21-D9C0D0C6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224" y="2571750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May</a:t>
            </a:r>
          </a:p>
        </p:txBody>
      </p:sp>
      <p:sp>
        <p:nvSpPr>
          <p:cNvPr id="16" name="month-line-5">
            <a:extLst xmlns:a="http://schemas.openxmlformats.org/drawingml/2006/main">
              <a:ext uri="{FF2B5EF4-FFF2-40B4-BE49-F238E27FC236}">
                <a16:creationId xmlns:a16="http://schemas.microsoft.com/office/drawing/2014/main" id="{8C35575C-EF8A-4569-A7EA-56CB2137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819" y="3000375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B"/>
          </a:solidFill>
          <a:ln xmlns:a="http://schemas.openxmlformats.org/drawingml/2006/main" w="0">
            <a:noFill/>
          </a:ln>
        </p:spPr>
      </p:sp>
      <p:sp>
        <p:nvSpPr>
          <p:cNvPr id="17" name="month-5">
            <a:extLst xmlns:a="http://schemas.openxmlformats.org/drawingml/2006/main">
              <a:ext uri="{FF2B5EF4-FFF2-40B4-BE49-F238E27FC236}">
                <a16:creationId xmlns:a16="http://schemas.microsoft.com/office/drawing/2014/main" id="{54BD8B77-92E0-4895-B346-498FAAA7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069" y="2571750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Jun</a:t>
            </a:r>
          </a:p>
        </p:txBody>
      </p:sp>
      <p:sp>
        <p:nvSpPr>
          <p:cNvPr id="18" name="phase-discover">
            <a:extLst xmlns:a="http://schemas.openxmlformats.org/drawingml/2006/main">
              <a:ext uri="{FF2B5EF4-FFF2-40B4-BE49-F238E27FC236}">
                <a16:creationId xmlns:a16="http://schemas.microsoft.com/office/drawing/2014/main" id="{E4EA586A-8C56-4DED-AE8B-6557A7BF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9" name="duration-discover">
            <a:extLst xmlns:a="http://schemas.openxmlformats.org/drawingml/2006/main">
              <a:ext uri="{FF2B5EF4-FFF2-40B4-BE49-F238E27FC236}">
                <a16:creationId xmlns:a16="http://schemas.microsoft.com/office/drawing/2014/main" id="{61D12D4B-F209-43F8-89EA-6CD4A6AE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90875"/>
            <a:ext cx="150084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63"/>
          </a:solidFill>
          <a:ln xmlns:a="http://schemas.openxmlformats.org/drawingml/2006/main" w="0">
            <a:noFill/>
          </a:ln>
        </p:spPr>
      </p:sp>
      <p:sp>
        <p:nvSpPr>
          <p:cNvPr id="20" name="dates-discover">
            <a:extLst xmlns:a="http://schemas.openxmlformats.org/drawingml/2006/main">
              <a:ext uri="{FF2B5EF4-FFF2-40B4-BE49-F238E27FC236}">
                <a16:creationId xmlns:a16="http://schemas.microsoft.com/office/drawing/2014/main" id="{714560E0-C632-48EE-830E-1F8C5DEB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14700"/>
            <a:ext cx="13484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01-01 to 01-31</a:t>
            </a:r>
          </a:p>
        </p:txBody>
      </p:sp>
      <p:sp>
        <p:nvSpPr>
          <p:cNvPr id="21" name="phase-pilot">
            <a:extLst xmlns:a="http://schemas.openxmlformats.org/drawingml/2006/main">
              <a:ext uri="{FF2B5EF4-FFF2-40B4-BE49-F238E27FC236}">
                <a16:creationId xmlns:a16="http://schemas.microsoft.com/office/drawing/2014/main" id="{3BA63BEB-E973-448C-A209-21141281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22" name="duration-pilot">
            <a:extLst xmlns:a="http://schemas.openxmlformats.org/drawingml/2006/main">
              <a:ext uri="{FF2B5EF4-FFF2-40B4-BE49-F238E27FC236}">
                <a16:creationId xmlns:a16="http://schemas.microsoft.com/office/drawing/2014/main" id="{58A7F5B6-458B-4DDD-89FD-60922BA8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095" y="4048125"/>
            <a:ext cx="285644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D44"/>
          </a:solidFill>
          <a:ln xmlns:a="http://schemas.openxmlformats.org/drawingml/2006/main" w="0">
            <a:noFill/>
          </a:ln>
        </p:spPr>
      </p:sp>
      <p:sp>
        <p:nvSpPr>
          <p:cNvPr id="23" name="dates-pilot">
            <a:extLst xmlns:a="http://schemas.openxmlformats.org/drawingml/2006/main">
              <a:ext uri="{FF2B5EF4-FFF2-40B4-BE49-F238E27FC236}">
                <a16:creationId xmlns:a16="http://schemas.microsoft.com/office/drawing/2014/main" id="{96554116-8796-4D98-94EF-ACAE535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295" y="4171950"/>
            <a:ext cx="27040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02-01 to 03-31</a:t>
            </a:r>
          </a:p>
        </p:txBody>
      </p:sp>
      <p:sp>
        <p:nvSpPr>
          <p:cNvPr id="24" name="phase-scale">
            <a:extLst xmlns:a="http://schemas.openxmlformats.org/drawingml/2006/main">
              <a:ext uri="{FF2B5EF4-FFF2-40B4-BE49-F238E27FC236}">
                <a16:creationId xmlns:a16="http://schemas.microsoft.com/office/drawing/2014/main" id="{1D9F4960-BA0B-4A5B-8818-7955D48E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5" name="duration-scale">
            <a:extLst xmlns:a="http://schemas.openxmlformats.org/drawingml/2006/main">
              <a:ext uri="{FF2B5EF4-FFF2-40B4-BE49-F238E27FC236}">
                <a16:creationId xmlns:a16="http://schemas.microsoft.com/office/drawing/2014/main" id="{96594768-1296-4348-A28C-A12B068D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543" y="4905375"/>
            <a:ext cx="440570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A61"/>
          </a:solidFill>
          <a:ln xmlns:a="http://schemas.openxmlformats.org/drawingml/2006/main" w="0">
            <a:noFill/>
          </a:ln>
        </p:spPr>
      </p:sp>
      <p:sp>
        <p:nvSpPr>
          <p:cNvPr id="26" name="dates-scale">
            <a:extLst xmlns:a="http://schemas.openxmlformats.org/drawingml/2006/main">
              <a:ext uri="{FF2B5EF4-FFF2-40B4-BE49-F238E27FC236}">
                <a16:creationId xmlns:a16="http://schemas.microsoft.com/office/drawing/2014/main" id="{1843B423-F739-4437-AED7-AA1FA853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743" y="5029200"/>
            <a:ext cx="425330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04-01 to 06-30</a:t>
            </a:r>
          </a:p>
        </p:txBody>
      </p:sp>
    </p:spTree>
    <p:extLst>
      <p:ext uri="{BB962C8B-B14F-4D97-AF65-F5344CB8AC3E}">
        <p14:creationId xmlns:p14="http://schemas.microsoft.com/office/powerpoint/2010/main" val="1436461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">
            <a:extLst xmlns:a="http://schemas.openxmlformats.org/drawingml/2006/main">
              <a:ext uri="{FF2B5EF4-FFF2-40B4-BE49-F238E27FC236}">
                <a16:creationId xmlns:a16="http://schemas.microsoft.com/office/drawing/2014/main" id="{F8A06901-BB39-4AD6-ACA2-0C971C90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EED6B0-4B44-4233-8B94-A385EA22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Categorical risk matrix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4C85633-5CD3-4654-9663-A7A93A97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Qualitative placements for a fictional assessment, not numeric probabilities.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1A62AEDC-5EDA-43FF-8C2B-C910F991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03E1D31-4511-4087-B4BE-FD5DA5CE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6" name="row-label-0">
            <a:extLst xmlns:a="http://schemas.openxmlformats.org/drawingml/2006/main">
              <a:ext uri="{FF2B5EF4-FFF2-40B4-BE49-F238E27FC236}">
                <a16:creationId xmlns:a16="http://schemas.microsoft.com/office/drawing/2014/main" id="{D8FF6446-D2D1-4AE9-9447-C0F7C22A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Low impact</a:t>
            </a:r>
          </a:p>
        </p:txBody>
      </p:sp>
      <p:sp>
        <p:nvSpPr>
          <p:cNvPr id="7" name="row-label-1">
            <a:extLst xmlns:a="http://schemas.openxmlformats.org/drawingml/2006/main">
              <a:ext uri="{FF2B5EF4-FFF2-40B4-BE49-F238E27FC236}">
                <a16:creationId xmlns:a16="http://schemas.microsoft.com/office/drawing/2014/main" id="{B1F4C592-8F04-4C32-A0F2-08AFA3B0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Medium impact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7DDD85C8-8486-44C8-80DC-136A462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A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A63"/>
                </a:solidFill>
                <a:latin typeface="Arial"/>
                <a:ea typeface="Arial"/>
                <a:cs typeface="Arial"/>
              </a:rPr>
              <a:t>High impact</a:t>
            </a:r>
          </a:p>
        </p:txBody>
      </p:sp>
      <p:sp>
        <p:nvSpPr>
          <p:cNvPr id="9" name="col-label-0">
            <a:extLst xmlns:a="http://schemas.openxmlformats.org/drawingml/2006/main">
              <a:ext uri="{FF2B5EF4-FFF2-40B4-BE49-F238E27FC236}">
                <a16:creationId xmlns:a16="http://schemas.microsoft.com/office/drawing/2014/main" id="{96EB0DB6-E7F5-4679-B0F2-65AE3233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288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Low likelihood</a:t>
            </a:r>
          </a:p>
        </p:txBody>
      </p:sp>
      <p:sp>
        <p:nvSpPr>
          <p:cNvPr id="10" name="col-label-1">
            <a:extLst xmlns:a="http://schemas.openxmlformats.org/drawingml/2006/main">
              <a:ext uri="{FF2B5EF4-FFF2-40B4-BE49-F238E27FC236}">
                <a16:creationId xmlns:a16="http://schemas.microsoft.com/office/drawing/2014/main" id="{B3D00123-60EF-470B-8F7E-6545ACDB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288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Medium likelihood</a:t>
            </a:r>
          </a:p>
        </p:txBody>
      </p:sp>
      <p:sp>
        <p:nvSpPr>
          <p:cNvPr id="11" name="col-label-2">
            <a:extLst xmlns:a="http://schemas.openxmlformats.org/drawingml/2006/main">
              <a:ext uri="{FF2B5EF4-FFF2-40B4-BE49-F238E27FC236}">
                <a16:creationId xmlns:a16="http://schemas.microsoft.com/office/drawing/2014/main" id="{7F9C88F7-1BFF-49FE-8C7B-9C619D5B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288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High likelihood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17B47DEC-4765-49A0-9848-003C8B53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5E9B4FF2-EB38-406F-80BE-D9CC4D50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475E1F5C-DC89-4441-9679-3EFA468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3B5F09BB-1080-4649-A54A-DCE153F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cell-1-1">
            <a:extLst xmlns:a="http://schemas.openxmlformats.org/drawingml/2006/main">
              <a:ext uri="{FF2B5EF4-FFF2-40B4-BE49-F238E27FC236}">
                <a16:creationId xmlns:a16="http://schemas.microsoft.com/office/drawing/2014/main" id="{EF7EAFC6-C02F-4483-8F7C-4F0122D6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cell-1-2">
            <a:extLst xmlns:a="http://schemas.openxmlformats.org/drawingml/2006/main">
              <a:ext uri="{FF2B5EF4-FFF2-40B4-BE49-F238E27FC236}">
                <a16:creationId xmlns:a16="http://schemas.microsoft.com/office/drawing/2014/main" id="{373E5670-0A5D-4A12-850B-174DFE5E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cell-2-0">
            <a:extLst xmlns:a="http://schemas.openxmlformats.org/drawingml/2006/main">
              <a:ext uri="{FF2B5EF4-FFF2-40B4-BE49-F238E27FC236}">
                <a16:creationId xmlns:a16="http://schemas.microsoft.com/office/drawing/2014/main" id="{D096F325-9349-4285-B1C9-07CCA880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cell-2-1">
            <a:extLst xmlns:a="http://schemas.openxmlformats.org/drawingml/2006/main">
              <a:ext uri="{FF2B5EF4-FFF2-40B4-BE49-F238E27FC236}">
                <a16:creationId xmlns:a16="http://schemas.microsoft.com/office/drawing/2014/main" id="{6E8E1E02-3082-4E8D-A72C-8EF108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cell-2-2">
            <a:extLst xmlns:a="http://schemas.openxmlformats.org/drawingml/2006/main">
              <a:ext uri="{FF2B5EF4-FFF2-40B4-BE49-F238E27FC236}">
                <a16:creationId xmlns:a16="http://schemas.microsoft.com/office/drawing/2014/main" id="{AED9A0C7-2459-4B63-BA71-40B17881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assessment-delay">
            <a:extLst xmlns:a="http://schemas.openxmlformats.org/drawingml/2006/main">
              <a:ext uri="{FF2B5EF4-FFF2-40B4-BE49-F238E27FC236}">
                <a16:creationId xmlns:a16="http://schemas.microsoft.com/office/drawing/2014/main" id="{28A5B07D-6F52-48E9-BCF3-D2B40700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43375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Supplier delay</a:t>
            </a:r>
          </a:p>
        </p:txBody>
      </p:sp>
      <p:sp>
        <p:nvSpPr>
          <p:cNvPr id="22" name="assessment-access">
            <a:extLst xmlns:a="http://schemas.openxmlformats.org/drawingml/2006/main">
              <a:ext uri="{FF2B5EF4-FFF2-40B4-BE49-F238E27FC236}">
                <a16:creationId xmlns:a16="http://schemas.microsoft.com/office/drawing/2014/main" id="{56F0ED02-A0D4-4345-8423-421D5E91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43500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Access failure</a:t>
            </a:r>
          </a:p>
        </p:txBody>
      </p:sp>
      <p:sp>
        <p:nvSpPr>
          <p:cNvPr id="23" name="assessment-typo">
            <a:extLst xmlns:a="http://schemas.openxmlformats.org/drawingml/2006/main">
              <a:ext uri="{FF2B5EF4-FFF2-40B4-BE49-F238E27FC236}">
                <a16:creationId xmlns:a16="http://schemas.microsoft.com/office/drawing/2014/main" id="{6A2927BB-C05D-42C7-B2D6-F648BD0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Copy error</a:t>
            </a:r>
          </a:p>
        </p:txBody>
      </p:sp>
    </p:spTree>
    <p:extLst>
      <p:ext uri="{BB962C8B-B14F-4D97-AF65-F5344CB8AC3E}">
        <p14:creationId xmlns:p14="http://schemas.microsoft.com/office/powerpoint/2010/main" val="182489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22C25F34-7F3B-4179-81BC-6DCA4257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NORTHSTAR / OPERATIONS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1ED288-808E-46EA-8F9C-7D5B600C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Decision criteria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F086931-0CE1-40C5-9E88-CE4326D4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 comparison preserves common criteria and explicit tradeoffs.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FF41B4BB-8E3B-499F-9FD4-E6E498D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B223115-4D64-4E31-815E-F511B0E4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70F14-BE5E-4FF3-9E1C-5E27A5B3EDD4}"/>
              </a:ext>
            </a:extLst>
          </p:cNvPr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14775"/>
                <a:gridCol w="3914775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EB"/>
                      </a:solidFill>
                      <a:prstDash val="solid"/>
                    </a:lnL>
                    <a:lnR w="9525">
                      <a:solidFill>
                        <a:srgbClr val="DCE3EB"/>
                      </a:solidFill>
                      <a:prstDash val="solid"/>
                    </a:lnR>
                    <a:lnT w="9525">
                      <a:solidFill>
                        <a:srgbClr val="DCE3EB"/>
                      </a:solidFill>
                      <a:prstDash val="solid"/>
                    </a:lnT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24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Option 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T w="9525">
                      <a:solidFill>
                        <a:srgbClr val="DCE3EB"/>
                      </a:solidFill>
                      <a:prstDash val="solid"/>
                    </a:lnT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24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Option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T w="9525">
                      <a:solidFill>
                        <a:srgbClr val="DCE3EB"/>
                      </a:solidFill>
                      <a:prstDash val="solid"/>
                    </a:lnT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243A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Delivery window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EB"/>
                      </a:solidFill>
                      <a:prstDash val="solid"/>
                    </a:lnL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 weeks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 weeks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EB"/>
                      </a:solidFill>
                      <a:prstDash val="solid"/>
                    </a:lnL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Core workflow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Core + integrations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Operating 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EB"/>
                      </a:solidFill>
                      <a:prstDash val="solid"/>
                    </a:lnL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Manual 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Review + automation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Key constraint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EB"/>
                      </a:solidFill>
                      <a:prstDash val="solid"/>
                    </a:lnL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Team availability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Integration readiness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EB"/>
                      </a:solidFill>
                      <a:prstDash val="solid"/>
                    </a:lnR>
                    <a:lnB w="9525">
                      <a:solidFill>
                        <a:srgbClr val="DCE3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727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2026-10-18T23:43:25.1590000Z</dcterms:created>
  <dcterms:modified xsi:type="dcterms:W3CDTF">2026-10-18T23:43:25.1590000Z</dcterms:modified>
</coreProperties>
</file>